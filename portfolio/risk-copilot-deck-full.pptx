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D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920240"/>
            <a:ext cx="6766560" cy="6766560"/>
          </a:xfrm>
          <a:prstGeom prst="ellipse">
            <a:avLst/>
          </a:prstGeom>
          <a:solidFill>
            <a:srgbClr val="3FC9BD">
              <a:alpha val="7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14173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3F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 BUILDER CASE STUDY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9692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E7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Protocol to Product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566928" y="32004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A3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the Qualys MCP server into a Risk Copilot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66928" y="3977640"/>
            <a:ext cx="1510589" cy="384048"/>
          </a:xfrm>
          <a:prstGeom prst="roundRect">
            <a:avLst>
              <a:gd name="adj" fmla="val 47619"/>
            </a:avLst>
          </a:prstGeom>
          <a:solidFill>
            <a:srgbClr val="3FC9BD">
              <a:alpha val="12000"/>
            </a:srgbClr>
          </a:solidFill>
          <a:ln w="9525">
            <a:solidFill>
              <a:srgbClr val="3FC9B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3977640"/>
            <a:ext cx="151058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F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qualys-cli-mcp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223821" y="3977640"/>
            <a:ext cx="2137867" cy="384048"/>
          </a:xfrm>
          <a:prstGeom prst="roundRect">
            <a:avLst>
              <a:gd name="adj" fmla="val 47619"/>
            </a:avLst>
          </a:prstGeom>
          <a:solidFill>
            <a:srgbClr val="3FC9BD">
              <a:alpha val="12000"/>
            </a:srgbClr>
          </a:solidFill>
          <a:ln w="9525">
            <a:solidFill>
              <a:srgbClr val="3FC9B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23821" y="3977640"/>
            <a:ext cx="213786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F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tools · 12 modules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07992" y="3977640"/>
            <a:ext cx="2048256" cy="384048"/>
          </a:xfrm>
          <a:prstGeom prst="roundRect">
            <a:avLst>
              <a:gd name="adj" fmla="val 47619"/>
            </a:avLst>
          </a:prstGeom>
          <a:solidFill>
            <a:srgbClr val="3FC9BD">
              <a:alpha val="12000"/>
            </a:srgbClr>
          </a:solidFill>
          <a:ln w="9525">
            <a:solidFill>
              <a:srgbClr val="3FC9B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07992" y="3977640"/>
            <a:ext cx="2048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F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 governance layer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66928" y="5989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78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Mayukh · github.com/mayukhg/qualys-mcp-app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D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F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THESIS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7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protocol is not a product.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600200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600"/>
              </a:lnSpc>
              <a:buNone/>
            </a:pPr>
            <a:r>
              <a:rPr lang="en-US" sz="3800" b="1" dirty="0">
                <a:solidFill>
                  <a:srgbClr val="E7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protocol is not a product.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66928" y="2788920"/>
            <a:ext cx="9509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A3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install qualys-cli-mcp takes ninety seconds. Everything that makes it usable by a security team happens after.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66928" y="4754880"/>
            <a:ext cx="3538728" cy="1051560"/>
          </a:xfrm>
          <a:prstGeom prst="roundRect">
            <a:avLst>
              <a:gd name="adj" fmla="val 5217"/>
            </a:avLst>
          </a:prstGeom>
          <a:solidFill>
            <a:srgbClr val="151A24"/>
          </a:solidFill>
          <a:ln w="12700">
            <a:solidFill>
              <a:srgbClr val="2A334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" y="4754880"/>
            <a:ext cx="31363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A3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 ·  16 tools, 12 modules, one governance layer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25112" y="4754880"/>
            <a:ext cx="3538728" cy="1051560"/>
          </a:xfrm>
          <a:prstGeom prst="roundRect">
            <a:avLst>
              <a:gd name="adj" fmla="val 5217"/>
            </a:avLst>
          </a:prstGeom>
          <a:solidFill>
            <a:srgbClr val="17332F"/>
          </a:solidFill>
          <a:ln w="12700">
            <a:solidFill>
              <a:srgbClr val="3FC9B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26280" y="4754880"/>
            <a:ext cx="31363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E7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 WORK  ·  this deck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083296" y="4754880"/>
            <a:ext cx="3538728" cy="1051560"/>
          </a:xfrm>
          <a:prstGeom prst="roundRect">
            <a:avLst>
              <a:gd name="adj" fmla="val 5217"/>
            </a:avLst>
          </a:prstGeom>
          <a:solidFill>
            <a:srgbClr val="151A24"/>
          </a:solidFill>
          <a:ln w="12700">
            <a:solidFill>
              <a:srgbClr val="2A334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84464" y="4754880"/>
            <a:ext cx="31363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A3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 ·  a ranked, defensible, auditable weekly risk answer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0817352" y="63550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B44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21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D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F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THIS MCP SERVER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7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server actually 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993392"/>
            <a:ext cx="2475738" cy="2286000"/>
          </a:xfrm>
          <a:prstGeom prst="roundRect">
            <a:avLst>
              <a:gd name="adj" fmla="val 2400"/>
            </a:avLst>
          </a:prstGeom>
          <a:solidFill>
            <a:srgbClr val="151A24"/>
          </a:solidFill>
          <a:ln w="12700">
            <a:solidFill>
              <a:srgbClr val="2A334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2212848"/>
            <a:ext cx="207340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F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68096" y="2615184"/>
            <a:ext cx="207340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A3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Claude, GPT, Llama — speaks MCP, holds no credentials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042666" y="2907792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7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426714" y="1993392"/>
            <a:ext cx="2475738" cy="2286000"/>
          </a:xfrm>
          <a:prstGeom prst="roundRect">
            <a:avLst>
              <a:gd name="adj" fmla="val 2400"/>
            </a:avLst>
          </a:prstGeom>
          <a:solidFill>
            <a:srgbClr val="151A24"/>
          </a:solidFill>
          <a:ln w="12700">
            <a:solidFill>
              <a:srgbClr val="2A334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27882" y="2212848"/>
            <a:ext cx="207340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F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qualys-cli-mcp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627882" y="2615184"/>
            <a:ext cx="207340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A3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argv, redacts secrets, enforces policy, writes the audit log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02452" y="2907792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7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286500" y="1993392"/>
            <a:ext cx="2475738" cy="2286000"/>
          </a:xfrm>
          <a:prstGeom prst="roundRect">
            <a:avLst>
              <a:gd name="adj" fmla="val 2400"/>
            </a:avLst>
          </a:prstGeom>
          <a:solidFill>
            <a:srgbClr val="151A24"/>
          </a:solidFill>
          <a:ln w="12700">
            <a:solidFill>
              <a:srgbClr val="2A334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87668" y="2212848"/>
            <a:ext cx="207340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F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qualys-cli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87668" y="2615184"/>
            <a:ext cx="207340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A3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retries, the actual Qualys API calls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762238" y="2907792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7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9146286" y="1993392"/>
            <a:ext cx="2475738" cy="2286000"/>
          </a:xfrm>
          <a:prstGeom prst="roundRect">
            <a:avLst>
              <a:gd name="adj" fmla="val 2400"/>
            </a:avLst>
          </a:prstGeom>
          <a:solidFill>
            <a:srgbClr val="151A24"/>
          </a:solidFill>
          <a:ln w="12700">
            <a:solidFill>
              <a:srgbClr val="2A334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47454" y="2212848"/>
            <a:ext cx="207340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F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Qualys Cloud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9347454" y="2615184"/>
            <a:ext cx="207340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A3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· PC · PM · WAS · TotalCloud · CS · CSAM · Cloud Agent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66928" y="5870448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77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server never touches Qualys directly. It wraps an existing CLI and puts a governance layer in front of it — which is precisely why it can be productised rather than demoed.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817352" y="63550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B44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21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D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F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THIS MCP SERVER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7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unlocks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44752"/>
            <a:ext cx="3526536" cy="4864608"/>
          </a:xfrm>
          <a:prstGeom prst="roundRect">
            <a:avLst>
              <a:gd name="adj" fmla="val 1556"/>
            </a:avLst>
          </a:prstGeom>
          <a:solidFill>
            <a:srgbClr val="151A24"/>
          </a:solidFill>
          <a:ln w="12700">
            <a:solidFill>
              <a:srgbClr val="2A334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627632"/>
            <a:ext cx="3069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3F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04672" y="1901952"/>
            <a:ext cx="3069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E7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thread, twelve modules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04672" y="2468880"/>
            <a:ext cx="3069336" cy="3675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A3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replaces hand-built QQL across VM, PC, PM, WAS, TotalCloud, Container Security, CSAM and Cloud Agent.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31208" y="1444752"/>
            <a:ext cx="3526536" cy="4864608"/>
          </a:xfrm>
          <a:prstGeom prst="roundRect">
            <a:avLst>
              <a:gd name="adj" fmla="val 1556"/>
            </a:avLst>
          </a:prstGeom>
          <a:solidFill>
            <a:srgbClr val="151A24"/>
          </a:solidFill>
          <a:ln w="12700">
            <a:solidFill>
              <a:srgbClr val="2A334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1627632"/>
            <a:ext cx="3069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3F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68952" y="1901952"/>
            <a:ext cx="3069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E7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API client to build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68952" y="2468880"/>
            <a:ext cx="3069336" cy="3675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A3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Sixteen typed tools plus a generic passthrough. The integration cost of a cross-module workflow collapses to a config entry.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95488" y="1444752"/>
            <a:ext cx="3526536" cy="4864608"/>
          </a:xfrm>
          <a:prstGeom prst="roundRect">
            <a:avLst>
              <a:gd name="adj" fmla="val 1556"/>
            </a:avLst>
          </a:prstGeom>
          <a:solidFill>
            <a:srgbClr val="151A24"/>
          </a:solidFill>
          <a:ln w="12700">
            <a:solidFill>
              <a:srgbClr val="2A334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33232" y="1627632"/>
            <a:ext cx="3069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3F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333232" y="1901952"/>
            <a:ext cx="3069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E7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 in the box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33232" y="2468880"/>
            <a:ext cx="3069336" cy="3675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A3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Argv validation, keyring credentials, module allowlist, read-only mode, append-only JSONL audit — shipped, not bolted on.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817352" y="63550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B44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21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D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F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THIS MCP SERVER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7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 was never the blocker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444752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A3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teams have not pointed LLMs at security data for three reasons. This server answers all three.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011680"/>
            <a:ext cx="3526536" cy="3703320"/>
          </a:xfrm>
          <a:prstGeom prst="roundRect">
            <a:avLst>
              <a:gd name="adj" fmla="val 1556"/>
            </a:avLst>
          </a:prstGeom>
          <a:solidFill>
            <a:srgbClr val="151A24"/>
          </a:solidFill>
          <a:ln w="12700">
            <a:solidFill>
              <a:srgbClr val="2A334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2194560"/>
            <a:ext cx="3069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3F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CREDENTIALS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04672" y="2468880"/>
            <a:ext cx="3069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E7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“Who holds the keys?”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04672" y="3035808"/>
            <a:ext cx="3069336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A3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sit in the OS keyring. They are never passed to the model, and they are redacted out of tool output.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31208" y="2011680"/>
            <a:ext cx="3526536" cy="3703320"/>
          </a:xfrm>
          <a:prstGeom prst="roundRect">
            <a:avLst>
              <a:gd name="adj" fmla="val 1556"/>
            </a:avLst>
          </a:prstGeom>
          <a:solidFill>
            <a:srgbClr val="151A24"/>
          </a:solidFill>
          <a:ln w="12700">
            <a:solidFill>
              <a:srgbClr val="2A334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68952" y="2194560"/>
            <a:ext cx="3069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3F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BLAST RADIUS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68952" y="2468880"/>
            <a:ext cx="3069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E7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“What can it break?”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68952" y="3035808"/>
            <a:ext cx="3069336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A3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DENY_WRITE forces read-only. ALLOWED_MODULES bounds the session to the modules you name.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95488" y="2011680"/>
            <a:ext cx="3526536" cy="3703320"/>
          </a:xfrm>
          <a:prstGeom prst="roundRect">
            <a:avLst>
              <a:gd name="adj" fmla="val 1556"/>
            </a:avLst>
          </a:prstGeom>
          <a:solidFill>
            <a:srgbClr val="151A24"/>
          </a:solidFill>
          <a:ln w="12700">
            <a:solidFill>
              <a:srgbClr val="2A334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33232" y="2194560"/>
            <a:ext cx="3069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3F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PROVENANCE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333232" y="2468880"/>
            <a:ext cx="3069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E7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“Prove what it did.”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333232" y="3035808"/>
            <a:ext cx="3069336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A3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tool call lands in an append-only JSONL log with actor, module, mode and timestamp.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66928" y="5870448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77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part most MCP demos never touch — and the only part an enterprise buyer actually asks about.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817352" y="63550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B44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21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D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F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SOLUTION SPACE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7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Eleven doors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444752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A3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use case the server supports. Listing them is the easy half.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011680"/>
            <a:ext cx="3541743" cy="4251960"/>
          </a:xfrm>
          <a:prstGeom prst="roundRect">
            <a:avLst>
              <a:gd name="adj" fmla="val 1549"/>
            </a:avLst>
          </a:prstGeom>
          <a:solidFill>
            <a:srgbClr val="151A24"/>
          </a:solidFill>
          <a:ln w="12700">
            <a:solidFill>
              <a:srgbClr val="2A334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2212848"/>
            <a:ext cx="31028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C9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&amp; triage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86384" y="2578608"/>
            <a:ext cx="3139407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A3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VM triage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A3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Compliance posture Q&amp;A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A3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findings summarisation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A3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misconfiguration review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A3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image risk gate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A3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CSAM risk-ranking lookups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A3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Agent coverage checks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28127" y="2011680"/>
            <a:ext cx="2284995" cy="4251960"/>
          </a:xfrm>
          <a:prstGeom prst="roundRect">
            <a:avLst>
              <a:gd name="adj" fmla="val 2401"/>
            </a:avLst>
          </a:prstGeom>
          <a:solidFill>
            <a:srgbClr val="151A24"/>
          </a:solidFill>
          <a:ln w="12700">
            <a:solidFill>
              <a:srgbClr val="2A334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47583" y="2212848"/>
            <a:ext cx="184608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C9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support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47583" y="2578608"/>
            <a:ext cx="1882659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A3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prioritisation across VM + PM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832578" y="2011680"/>
            <a:ext cx="2284995" cy="4251960"/>
          </a:xfrm>
          <a:prstGeom prst="roundRect">
            <a:avLst>
              <a:gd name="adj" fmla="val 2401"/>
            </a:avLst>
          </a:prstGeom>
          <a:solidFill>
            <a:srgbClr val="151A24"/>
          </a:solidFill>
          <a:ln w="12700">
            <a:solidFill>
              <a:srgbClr val="2A334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52034" y="2212848"/>
            <a:ext cx="184608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C9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052034" y="2578608"/>
            <a:ext cx="1882659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A3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inside Claude Desktop / IDE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A3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read-only self-service reporting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337029" y="2011680"/>
            <a:ext cx="2284995" cy="4251960"/>
          </a:xfrm>
          <a:prstGeom prst="roundRect">
            <a:avLst>
              <a:gd name="adj" fmla="val 2401"/>
            </a:avLst>
          </a:prstGeom>
          <a:solidFill>
            <a:srgbClr val="151A24"/>
          </a:solidFill>
          <a:ln w="12700">
            <a:solidFill>
              <a:srgbClr val="2A334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556485" y="2212848"/>
            <a:ext cx="184608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C9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556485" y="2578608"/>
            <a:ext cx="1882659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A3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security tooling built on qualys_cli() and qualys_cli_help()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0817352" y="63550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B44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21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D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F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SOLUTION SPACE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7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 cut eleven to one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444752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A3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criteria, stated before the scoring — not reverse-engineered from the answer.</a:t>
            </a:r>
            <a:endParaRPr lang="en-US" sz="13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011680"/>
          <a:ext cx="11055096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1856232"/>
                <a:gridCol w="1856232"/>
                <a:gridCol w="1856232"/>
                <a:gridCol w="1847088"/>
              </a:tblGrid>
              <a:tr h="67848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00" kern="0" dirty="0">
                          <a:solidFill>
                            <a:srgbClr val="77839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CANDIDATE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00" marR="5486400" marT="0" marB="7315200" anchor="b">
                    <a:lnL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D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00" kern="0" dirty="0">
                          <a:solidFill>
                            <a:srgbClr val="77839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NEEDS A CROSS-MODULE JOIN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00" marR="5486400" marT="0" marB="7315200" anchor="b">
                    <a:lnL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D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00" kern="0" dirty="0">
                          <a:solidFill>
                            <a:srgbClr val="77839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EXERCISES THE GOVERNANCE LAYER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00" marR="5486400" marT="0" marB="7315200" anchor="b">
                    <a:lnL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D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00" kern="0" dirty="0">
                          <a:solidFill>
                            <a:srgbClr val="77839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REPLACES A RECURRING RITUAL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00" marR="5486400" marT="0" marB="7315200" anchor="b">
                    <a:lnL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D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00" kern="0" dirty="0">
                          <a:solidFill>
                            <a:srgbClr val="77839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HAS A SECOND AUDIENCE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00" marR="5486400" marT="0" marB="7315200" anchor="b">
                    <a:lnL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D13"/>
                    </a:solidFill>
                  </a:tcPr>
                </a:tc>
              </a:tr>
              <a:tr h="6784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E7EC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Conversational VM triage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ctr">
                    <a:lnL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B44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ctr">
                    <a:lnL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B44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ctr">
                    <a:lnL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B44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ctr">
                    <a:lnL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B44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ctr">
                    <a:lnL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4"/>
                    </a:solidFill>
                  </a:tcPr>
                </a:tc>
              </a:tr>
              <a:tr h="6784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E7EC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Patch prioritisation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ctr">
                    <a:lnL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FC9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ctr">
                    <a:lnL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B44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ctr">
                    <a:lnL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B44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ctr">
                    <a:lnL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B44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ctr">
                    <a:lnL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4"/>
                    </a:solidFill>
                  </a:tcPr>
                </a:tc>
              </a:tr>
              <a:tr h="6784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E7EC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Container / cloud misconfig review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ctr">
                    <a:lnL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B44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ctr">
                    <a:lnL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B44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ctr">
                    <a:lnL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B44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ctr">
                    <a:lnL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B44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ctr">
                    <a:lnL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4"/>
                    </a:solidFill>
                  </a:tcPr>
                </a:tc>
              </a:tr>
              <a:tr h="6784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E7EC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Governed self-service reporting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ctr">
                    <a:lnL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B44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ctr">
                    <a:lnL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FC9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ctr">
                    <a:lnL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B44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ctr">
                    <a:lnL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FC9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ctr">
                    <a:lnL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4"/>
                    </a:solidFill>
                  </a:tcPr>
                </a:tc>
              </a:tr>
              <a:tr h="6784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E7EC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Unified Cross-Domain Risk Copilot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ctr">
                    <a:lnL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3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FC9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ctr">
                    <a:lnL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3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FC9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ctr">
                    <a:lnL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3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FC9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ctr">
                    <a:lnL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3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FC9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ctr">
                    <a:lnL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32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66928" y="5870448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77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winner is the only candidate that needs a join no single Qualys screen gives you, exercises the guardrails that are the actual moat, replaces a named ritual (the Monday leadership report), and ships with a second audience already in it.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0817352" y="63550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B44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21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D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F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DEEP DIVE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7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problem, in the customer's words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44752"/>
            <a:ext cx="5408676" cy="2313432"/>
          </a:xfrm>
          <a:prstGeom prst="roundRect">
            <a:avLst>
              <a:gd name="adj" fmla="val 2372"/>
            </a:avLst>
          </a:prstGeom>
          <a:solidFill>
            <a:srgbClr val="151A24"/>
          </a:solidFill>
          <a:ln w="12700">
            <a:solidFill>
              <a:srgbClr val="2A334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627632"/>
            <a:ext cx="49514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3F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04672" y="1901952"/>
            <a:ext cx="49514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E7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“Nothing tells us what to fix first.”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04672" y="2468880"/>
            <a:ext cx="4951476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A3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Hosts, cloud resources, containers and web apps each rank separately. There is no single list.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3348" y="1444752"/>
            <a:ext cx="5408676" cy="2313432"/>
          </a:xfrm>
          <a:prstGeom prst="roundRect">
            <a:avLst>
              <a:gd name="adj" fmla="val 2372"/>
            </a:avLst>
          </a:prstGeom>
          <a:solidFill>
            <a:srgbClr val="151A24"/>
          </a:solidFill>
          <a:ln w="12700">
            <a:solidFill>
              <a:srgbClr val="2A334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51092" y="1627632"/>
            <a:ext cx="49514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3F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451092" y="1901952"/>
            <a:ext cx="49514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E7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“We join it by hand.”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51092" y="2468880"/>
            <a:ext cx="4951476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A3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analyst opens six modules to answer one question about one asset. Every week.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3995928"/>
            <a:ext cx="5408676" cy="2313432"/>
          </a:xfrm>
          <a:prstGeom prst="roundRect">
            <a:avLst>
              <a:gd name="adj" fmla="val 2372"/>
            </a:avLst>
          </a:prstGeom>
          <a:solidFill>
            <a:srgbClr val="151A24"/>
          </a:solidFill>
          <a:ln w="12700">
            <a:solidFill>
              <a:srgbClr val="2A334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4178808"/>
            <a:ext cx="49514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3F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04672" y="4453128"/>
            <a:ext cx="49514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E7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“The Monday report is a spreadsheet.”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04672" y="5020056"/>
            <a:ext cx="4951476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A3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Defensible to leadership, provable to nobody. No record of what was pulled, or when.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3348" y="3995928"/>
            <a:ext cx="5408676" cy="2313432"/>
          </a:xfrm>
          <a:prstGeom prst="roundRect">
            <a:avLst>
              <a:gd name="adj" fmla="val 2372"/>
            </a:avLst>
          </a:prstGeom>
          <a:solidFill>
            <a:srgbClr val="151A24"/>
          </a:solidFill>
          <a:ln w="12700">
            <a:solidFill>
              <a:srgbClr val="2A334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51092" y="4178808"/>
            <a:ext cx="49514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3F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451092" y="4453128"/>
            <a:ext cx="49514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E7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“Engineering wants answers, not access.”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51092" y="5020056"/>
            <a:ext cx="4951476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A3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 need to know how risky their estate is — without a Qualys seat or write permissions.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817352" y="63550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B44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/ 21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D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F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DEEP DIVE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7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Requirements, mapped to tools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444752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A3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decomposition is the design. Every business question resolves to a named tool and a named module.</a:t>
            </a:r>
            <a:endParaRPr lang="en-US" sz="13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011680"/>
          <a:ext cx="11055096" cy="914400"/>
        </p:xfrm>
        <a:graphic>
          <a:graphicData uri="http://schemas.openxmlformats.org/drawingml/2006/table">
            <a:tbl>
              <a:tblPr/>
              <a:tblGrid>
                <a:gridCol w="5120640"/>
                <a:gridCol w="4114800"/>
                <a:gridCol w="1828800"/>
              </a:tblGrid>
              <a:tr h="39867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00" kern="0" dirty="0">
                          <a:solidFill>
                            <a:srgbClr val="77839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BUSINESS NEED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00" marR="5486400" marT="0" marB="7315200" anchor="b">
                    <a:lnL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D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00" kern="0" dirty="0">
                          <a:solidFill>
                            <a:srgbClr val="77839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MCP TOOL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00" marR="5486400" marT="0" marB="7315200" anchor="b">
                    <a:lnL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D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00" kern="0" dirty="0">
                          <a:solidFill>
                            <a:srgbClr val="77839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MODULE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00" marR="5486400" marT="0" marB="7315200" anchor="b">
                    <a:lnL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D13"/>
                    </a:solidFill>
                  </a:tcPr>
                </a:tc>
              </a:tr>
              <a:tr h="39867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E7EC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are our riskiest assets right now?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ctr">
                    <a:lnL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3AD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Asset risk-ranking / inventory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ctr">
                    <a:lnL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3AD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ctr">
                    <a:lnL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4"/>
                    </a:solidFill>
                  </a:tcPr>
                </a:tc>
              </a:tr>
              <a:tr h="39867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E7EC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is wrong with them, and how bad is it?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ctr">
                    <a:lnL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3AD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Detection + host queries + KB lookup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ctr">
                    <a:lnL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3AD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ctr">
                    <a:lnL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4"/>
                    </a:solidFill>
                  </a:tcPr>
                </a:tc>
              </a:tr>
              <a:tr h="39867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E7EC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a failing control compounding the risk?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ctr">
                    <a:lnL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3AD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Posture assessment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ctr">
                    <a:lnL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3AD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ctr">
                    <a:lnL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4"/>
                    </a:solidFill>
                  </a:tcPr>
                </a:tc>
              </a:tr>
              <a:tr h="39867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E7EC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it an internet-facing app with findings?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ctr">
                    <a:lnL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3AD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Findings list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ctr">
                    <a:lnL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3AD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ctr">
                    <a:lnL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4"/>
                    </a:solidFill>
                  </a:tcPr>
                </a:tc>
              </a:tr>
              <a:tr h="39867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E7EC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it cloud-hosted and misconfigured?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ctr">
                    <a:lnL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3AD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Connector + CDR 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ctr">
                    <a:lnL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3AD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TotalCloud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ctr">
                    <a:lnL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4"/>
                    </a:solidFill>
                  </a:tcPr>
                </a:tc>
              </a:tr>
              <a:tr h="39867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E7EC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 it run vulnerable container images?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ctr">
                    <a:lnL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3AD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 vulnerability scan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ctr">
                    <a:lnL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3AD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ctr">
                    <a:lnL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4"/>
                    </a:solidFill>
                  </a:tcPr>
                </a:tc>
              </a:tr>
              <a:tr h="39867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E7EC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a fix already in flight?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ctr">
                    <a:lnL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3AD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 + patch listings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ctr">
                    <a:lnL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3AD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ctr">
                    <a:lnL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4"/>
                    </a:solidFill>
                  </a:tcPr>
                </a:tc>
              </a:tr>
              <a:tr h="39867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E7EC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 we even watching this asset?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ctr">
                    <a:lnL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3AD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inventory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ctr">
                    <a:lnL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3AD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Agent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ctr">
                    <a:lnL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4"/>
                    </a:solidFill>
                  </a:tcPr>
                </a:tc>
              </a:tr>
              <a:tr h="39867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E7EC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Anything the curated tools miss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ctr">
                    <a:lnL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3AD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qualys_cli() + qualys_cli_help()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ctr">
                    <a:lnL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3AD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ctr">
                    <a:lnL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4"/>
                    </a:solidFill>
                  </a:tcPr>
                </a:tc>
              </a:tr>
              <a:tr h="39867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E7EC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 self-service, provable to auditors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ctr">
                    <a:lnL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32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7EC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DENY_WRITE + ALLOWED_MODULES + AUDIT_LOG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ctr">
                    <a:lnL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32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7EC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ctr">
                    <a:lnL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32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0817352" y="63550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B44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/ 21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D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F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DEEP DIVE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7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weekly workflow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44752"/>
            <a:ext cx="2599182" cy="2025396"/>
          </a:xfrm>
          <a:prstGeom prst="roundRect">
            <a:avLst>
              <a:gd name="adj" fmla="val 2709"/>
            </a:avLst>
          </a:prstGeom>
          <a:solidFill>
            <a:srgbClr val="151A24"/>
          </a:solidFill>
          <a:ln w="12700">
            <a:solidFill>
              <a:srgbClr val="2A334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1609344"/>
            <a:ext cx="219684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· Identify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68096" y="1901952"/>
            <a:ext cx="2196846" cy="1403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A3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the top assets — CSAM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85566" y="1444752"/>
            <a:ext cx="2599182" cy="2025396"/>
          </a:xfrm>
          <a:prstGeom prst="roundRect">
            <a:avLst>
              <a:gd name="adj" fmla="val 2709"/>
            </a:avLst>
          </a:prstGeom>
          <a:solidFill>
            <a:srgbClr val="151A24"/>
          </a:solidFill>
          <a:ln w="12700">
            <a:solidFill>
              <a:srgbClr val="2A334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86734" y="1609344"/>
            <a:ext cx="219684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· Explain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586734" y="1901952"/>
            <a:ext cx="2196846" cy="1403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A3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CVE IDs into a narrative — VM + KB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04204" y="1444752"/>
            <a:ext cx="2599182" cy="2025396"/>
          </a:xfrm>
          <a:prstGeom prst="roundRect">
            <a:avLst>
              <a:gd name="adj" fmla="val 2709"/>
            </a:avLst>
          </a:prstGeom>
          <a:solidFill>
            <a:srgbClr val="151A24"/>
          </a:solidFill>
          <a:ln w="12700">
            <a:solidFill>
              <a:srgbClr val="2A334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5372" y="1609344"/>
            <a:ext cx="219684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· Compound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405372" y="1901952"/>
            <a:ext cx="2196846" cy="1403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A3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controls that make it worse — PC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022842" y="1444752"/>
            <a:ext cx="2599182" cy="2025396"/>
          </a:xfrm>
          <a:prstGeom prst="roundRect">
            <a:avLst>
              <a:gd name="adj" fmla="val 2709"/>
            </a:avLst>
          </a:prstGeom>
          <a:solidFill>
            <a:srgbClr val="151A24"/>
          </a:solidFill>
          <a:ln w="12700">
            <a:solidFill>
              <a:srgbClr val="2A334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24010" y="1609344"/>
            <a:ext cx="219684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· Branch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224010" y="1901952"/>
            <a:ext cx="2196846" cy="1403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A3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asset type — WAS / TC / CS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3689604"/>
            <a:ext cx="2599182" cy="2025396"/>
          </a:xfrm>
          <a:prstGeom prst="roundRect">
            <a:avLst>
              <a:gd name="adj" fmla="val 2709"/>
            </a:avLst>
          </a:prstGeom>
          <a:solidFill>
            <a:srgbClr val="151A24"/>
          </a:solidFill>
          <a:ln w="12700">
            <a:solidFill>
              <a:srgbClr val="2A334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8096" y="3854196"/>
            <a:ext cx="219684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· Blind spots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68096" y="4146804"/>
            <a:ext cx="2196846" cy="1403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A3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what we cannot see — CA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385566" y="3689604"/>
            <a:ext cx="2599182" cy="2025396"/>
          </a:xfrm>
          <a:prstGeom prst="roundRect">
            <a:avLst>
              <a:gd name="adj" fmla="val 2709"/>
            </a:avLst>
          </a:prstGeom>
          <a:solidFill>
            <a:srgbClr val="151A24"/>
          </a:solidFill>
          <a:ln w="12700">
            <a:solidFill>
              <a:srgbClr val="2A334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86734" y="3854196"/>
            <a:ext cx="219684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· Fix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586734" y="4146804"/>
            <a:ext cx="2196846" cy="1403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A3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flight, or needs a job? — PM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04204" y="3689604"/>
            <a:ext cx="2599182" cy="2025396"/>
          </a:xfrm>
          <a:prstGeom prst="roundRect">
            <a:avLst>
              <a:gd name="adj" fmla="val 2709"/>
            </a:avLst>
          </a:prstGeom>
          <a:solidFill>
            <a:srgbClr val="151A24"/>
          </a:solidFill>
          <a:ln w="12700">
            <a:solidFill>
              <a:srgbClr val="2A334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5372" y="3854196"/>
            <a:ext cx="219684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· Gap-fill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405372" y="4146804"/>
            <a:ext cx="2196846" cy="1403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A3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bespoke ask — qualys_cli()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022842" y="3689604"/>
            <a:ext cx="2599182" cy="2025396"/>
          </a:xfrm>
          <a:prstGeom prst="roundRect">
            <a:avLst>
              <a:gd name="adj" fmla="val 2709"/>
            </a:avLst>
          </a:prstGeom>
          <a:solidFill>
            <a:srgbClr val="151A24"/>
          </a:solidFill>
          <a:ln w="12700">
            <a:solidFill>
              <a:srgbClr val="2A334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24010" y="3854196"/>
            <a:ext cx="219684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· Report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224010" y="4146804"/>
            <a:ext cx="2196846" cy="1403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A3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ranked list, one exec summary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66928" y="5870448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77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modules, one narrative. This is a join — not eight queries printed next to each other.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817352" y="63550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B44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21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D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F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DEEP DIVE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7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copilot reports what it cannot see.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600200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600"/>
              </a:lnSpc>
              <a:buNone/>
            </a:pPr>
            <a:r>
              <a:rPr lang="en-US" sz="3800" b="1" dirty="0">
                <a:solidFill>
                  <a:srgbClr val="E7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copilot reports what it cannot see.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66928" y="2788920"/>
            <a:ext cx="9509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A3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of the five assets in the demo tenant have no Cloud Agent — an internet-facing VPN gateway and a production database in eu-west-1. Every risk score on them is an underestimate. The copilot says so out loud instead of ranking them politely low.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66928" y="4754880"/>
            <a:ext cx="3538728" cy="1051560"/>
          </a:xfrm>
          <a:prstGeom prst="roundRect">
            <a:avLst>
              <a:gd name="adj" fmla="val 5217"/>
            </a:avLst>
          </a:prstGeom>
          <a:solidFill>
            <a:srgbClr val="151A24"/>
          </a:solidFill>
          <a:ln w="12700">
            <a:solidFill>
              <a:srgbClr val="2A334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" y="4754880"/>
            <a:ext cx="31363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A3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tools report findings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25112" y="4754880"/>
            <a:ext cx="3538728" cy="1051560"/>
          </a:xfrm>
          <a:prstGeom prst="roundRect">
            <a:avLst>
              <a:gd name="adj" fmla="val 5217"/>
            </a:avLst>
          </a:prstGeom>
          <a:solidFill>
            <a:srgbClr val="17332F"/>
          </a:solidFill>
          <a:ln w="12700">
            <a:solidFill>
              <a:srgbClr val="3FC9B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26280" y="4754880"/>
            <a:ext cx="31363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E7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one reports the absence of findings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083296" y="4754880"/>
            <a:ext cx="3538728" cy="1051560"/>
          </a:xfrm>
          <a:prstGeom prst="roundRect">
            <a:avLst>
              <a:gd name="adj" fmla="val 5217"/>
            </a:avLst>
          </a:prstGeom>
          <a:solidFill>
            <a:srgbClr val="151A24"/>
          </a:solidFill>
          <a:ln w="12700">
            <a:solidFill>
              <a:srgbClr val="2A334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84464" y="4754880"/>
            <a:ext cx="31363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A3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coverage gap is a finding, not a blank row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0817352" y="63550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B44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/ 21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D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F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DEEP DIVE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7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is the packaging, not the fine print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856232"/>
            <a:ext cx="5070348" cy="3291840"/>
          </a:xfrm>
          <a:prstGeom prst="roundRect">
            <a:avLst>
              <a:gd name="adj" fmla="val 1667"/>
            </a:avLst>
          </a:prstGeom>
          <a:solidFill>
            <a:srgbClr val="151A24"/>
          </a:solidFill>
          <a:ln w="12700">
            <a:solidFill>
              <a:srgbClr val="2A334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2057400"/>
            <a:ext cx="45217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7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41248" y="2459736"/>
            <a:ext cx="45217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7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Monday risk sweep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41248" y="289864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78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258568" y="2898648"/>
            <a:ext cx="31043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E7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8 in scope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41248" y="34290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78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258568" y="3429000"/>
            <a:ext cx="31043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E7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(DENY_WRITE=1)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41248" y="395935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78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EVIDENCE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258568" y="3959352"/>
            <a:ext cx="31043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E7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cross-module chain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41248" y="448970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78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258568" y="4489704"/>
            <a:ext cx="31043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E7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call, JSONL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551676" y="1856232"/>
            <a:ext cx="5070348" cy="3291840"/>
          </a:xfrm>
          <a:prstGeom prst="roundRect">
            <a:avLst>
              <a:gd name="adj" fmla="val 1667"/>
            </a:avLst>
          </a:prstGeom>
          <a:solidFill>
            <a:srgbClr val="17332F"/>
          </a:solidFill>
          <a:ln w="12700">
            <a:solidFill>
              <a:srgbClr val="3FC9B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25996" y="2057400"/>
            <a:ext cx="45217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7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Manager · self-service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825996" y="2459736"/>
            <a:ext cx="45217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7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risky is my team's estate?”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825996" y="289864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78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243316" y="2898648"/>
            <a:ext cx="31043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E7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CSAM, VM, WAS only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825996" y="34290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78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243316" y="3429000"/>
            <a:ext cx="31043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E7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(DENY_WRITE=1)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825996" y="395935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78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EVIDENCE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243316" y="3959352"/>
            <a:ext cx="31043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E7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Restricted modules hidden and labelled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825996" y="448970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78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AUDIT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243316" y="4489704"/>
            <a:ext cx="31043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E7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call, JSONL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637276" y="3136392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00" spc="100" kern="0" dirty="0">
                <a:solidFill>
                  <a:srgbClr val="778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SAME</a:t>
            </a:r>
            <a:endParaRPr lang="en-US" sz="9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900" spc="100" kern="0" dirty="0">
                <a:solidFill>
                  <a:srgbClr val="778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COPILOT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66928" y="5870448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77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copilot. Two products. The difference is two environment variables — which means segmentation costs a config change, not a roadmap.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817352" y="63550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B44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/ 21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D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F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DEEP DIVE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7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changes</a:t>
            </a:r>
            <a:endParaRPr lang="en-US" sz="3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44752"/>
          <a:ext cx="11055096" cy="914400"/>
        </p:xfrm>
        <a:graphic>
          <a:graphicData uri="http://schemas.openxmlformats.org/drawingml/2006/table">
            <a:tbl>
              <a:tblPr/>
              <a:tblGrid>
                <a:gridCol w="5120640"/>
                <a:gridCol w="4114800"/>
                <a:gridCol w="1828800"/>
              </a:tblGrid>
              <a:tr h="7918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00" marR="5486400" marT="0" marB="7315200" anchor="b">
                    <a:lnL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D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00" kern="0" dirty="0">
                          <a:solidFill>
                            <a:srgbClr val="77839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TODAY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00" marR="5486400" marT="0" marB="7315200" anchor="b">
                    <a:lnL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D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00" kern="0" dirty="0">
                          <a:solidFill>
                            <a:srgbClr val="77839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WITH THE COPILOT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00" marR="5486400" marT="0" marB="7315200" anchor="b">
                    <a:lnL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D13"/>
                    </a:solidFill>
                  </a:tcPr>
                </a:tc>
              </a:tr>
              <a:tr h="7918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E7EC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Ranking across domains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ctr">
                    <a:lnL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3AD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Six modules, joined by hand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ctr">
                    <a:lnL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3AD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ranked list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ctr">
                    <a:lnL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4"/>
                    </a:solidFill>
                  </a:tcPr>
                </a:tc>
              </a:tr>
              <a:tr h="7918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E7EC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to the Monday report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ctr">
                    <a:lnL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3AD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Hours of spreadsheet work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ctr">
                    <a:lnL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3AD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conversation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ctr">
                    <a:lnL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4"/>
                    </a:solidFill>
                  </a:tcPr>
                </a:tc>
              </a:tr>
              <a:tr h="7918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E7EC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Provenance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ctr">
                    <a:lnL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3AD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ctr">
                    <a:lnL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3AD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Timestamped JSONL, per tool call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ctr">
                    <a:lnL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4"/>
                    </a:solidFill>
                  </a:tcPr>
                </a:tc>
              </a:tr>
              <a:tr h="7918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E7EC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Coverage gaps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ctr">
                    <a:lnL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3AD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Invisible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ctr">
                    <a:lnL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3AD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Named as a first-class finding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ctr">
                    <a:lnL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4"/>
                    </a:solidFill>
                  </a:tcPr>
                </a:tc>
              </a:tr>
              <a:tr h="7918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E7EC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ctr">
                    <a:lnL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32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7EC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Analysts with Qualys seats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ctr">
                    <a:lnL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32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7EC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Plus engineering managers, read-only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ctr">
                    <a:lnL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320" cap="flat" cmpd="sng" algn="ctr">
                      <a:solidFill>
                        <a:srgbClr val="0A0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32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5870448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77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Directional. No live tenant data was used — these are the claims the prototype exists to test, not measured results.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0817352" y="63550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B44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/ 21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D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F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SURFACE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7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principles I designed to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444752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A3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one is provable in the screenshots that follow.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011680"/>
            <a:ext cx="3526536" cy="4297680"/>
          </a:xfrm>
          <a:prstGeom prst="roundRect">
            <a:avLst>
              <a:gd name="adj" fmla="val 1556"/>
            </a:avLst>
          </a:prstGeom>
          <a:solidFill>
            <a:srgbClr val="151A24"/>
          </a:solidFill>
          <a:ln w="12700">
            <a:solidFill>
              <a:srgbClr val="2A334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2194560"/>
            <a:ext cx="3069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3F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04672" y="2468880"/>
            <a:ext cx="3069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E7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assert. Cite.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04672" y="3035808"/>
            <a:ext cx="3069336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A3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carries the module that produced it. There are no naked answers anywhere in the interface.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31208" y="2011680"/>
            <a:ext cx="3526536" cy="4297680"/>
          </a:xfrm>
          <a:prstGeom prst="roundRect">
            <a:avLst>
              <a:gd name="adj" fmla="val 1556"/>
            </a:avLst>
          </a:prstGeom>
          <a:solidFill>
            <a:srgbClr val="151A24"/>
          </a:solidFill>
          <a:ln w="12700">
            <a:solidFill>
              <a:srgbClr val="2A334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68952" y="2194560"/>
            <a:ext cx="3069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3F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68952" y="2468880"/>
            <a:ext cx="3069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E7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in the chrome.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68952" y="3035808"/>
            <a:ext cx="3069336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A3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Read-only, the module allowlist and the audit count live in the header — not in a config file nobody opens.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95488" y="2011680"/>
            <a:ext cx="3526536" cy="4297680"/>
          </a:xfrm>
          <a:prstGeom prst="roundRect">
            <a:avLst>
              <a:gd name="adj" fmla="val 1556"/>
            </a:avLst>
          </a:prstGeom>
          <a:solidFill>
            <a:srgbClr val="151A24"/>
          </a:solidFill>
          <a:ln w="12700">
            <a:solidFill>
              <a:srgbClr val="2A334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33232" y="2194560"/>
            <a:ext cx="3069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3F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333232" y="2468880"/>
            <a:ext cx="3069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E7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surface, two personas.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333232" y="3035808"/>
            <a:ext cx="3069336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A3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screen, re-scoped. Restriction is a designed state, not an error state.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817352" y="63550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B44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/ 21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D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55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F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SURFACE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E7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whole product in one frame</a:t>
            </a:r>
            <a:endParaRPr lang="en-US" sz="2700" dirty="0"/>
          </a:p>
        </p:txBody>
      </p:sp>
      <p:pic>
        <p:nvPicPr>
          <p:cNvPr id="4" name="Image 0" descr="deck_img/A_default_analys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34814" y="1298448"/>
            <a:ext cx="5919324" cy="35204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6928" y="5093208"/>
            <a:ext cx="3931920" cy="1261872"/>
          </a:xfrm>
          <a:prstGeom prst="roundRect">
            <a:avLst>
              <a:gd name="adj" fmla="val 4348"/>
            </a:avLst>
          </a:prstGeom>
          <a:solidFill>
            <a:srgbClr val="3FC9BD">
              <a:alpha val="12000"/>
            </a:srgbClr>
          </a:solidFill>
          <a:ln w="12700">
            <a:solidFill>
              <a:srgbClr val="3FC9B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68096" y="5093208"/>
            <a:ext cx="3529584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E7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on the left. Ranked evidence on the right. The governance contract across the top.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791456" y="5093208"/>
            <a:ext cx="683056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A3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header states the contract before you ask anything: read-only, 8 of 8 modules in scope, 4 audited calls so far.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A3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is for exploring. The workbench is where you act.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817352" y="63550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B44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/ 21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D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55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F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SURFACE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E7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conversation carries its receipts</a:t>
            </a:r>
            <a:endParaRPr lang="en-US" sz="2700" dirty="0"/>
          </a:p>
        </p:txBody>
      </p:sp>
      <p:pic>
        <p:nvPicPr>
          <p:cNvPr id="4" name="Image 0" descr="deck_img/B_conversation_pane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0170" y="1371600"/>
            <a:ext cx="4661854" cy="44805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6928" y="1417320"/>
            <a:ext cx="5936042" cy="1143000"/>
          </a:xfrm>
          <a:prstGeom prst="roundRect">
            <a:avLst>
              <a:gd name="adj" fmla="val 4800"/>
            </a:avLst>
          </a:prstGeom>
          <a:solidFill>
            <a:srgbClr val="3FC9BD">
              <a:alpha val="12000"/>
            </a:srgbClr>
          </a:solidFill>
          <a:ln w="12700">
            <a:solidFill>
              <a:srgbClr val="3FC9B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68096" y="1417320"/>
            <a:ext cx="553370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E7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is stamped with the tools that produced it.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66928" y="2743200"/>
            <a:ext cx="5936042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A3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“Show top risk assets org-wide” resolves to csam.risk_ranking.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A3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“Why is prod-checkout-web-01 risky?” resolves to vm.detections · pc.posture.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A3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“Any assets missing agent coverage?” resolves to ca.inventory.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A3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analyst can defend the answer without trusting the model.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817352" y="63550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B44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/ 21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D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55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F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SURFACE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E7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asset. Five modules. One story.</a:t>
            </a:r>
            <a:endParaRPr lang="en-US" sz="2700" dirty="0"/>
          </a:p>
        </p:txBody>
      </p:sp>
      <p:pic>
        <p:nvPicPr>
          <p:cNvPr id="4" name="Image 0" descr="deck_img/C_workbench_pane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92824" y="1431574"/>
            <a:ext cx="5029200" cy="436061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6928" y="1417320"/>
            <a:ext cx="5568696" cy="1143000"/>
          </a:xfrm>
          <a:prstGeom prst="roundRect">
            <a:avLst>
              <a:gd name="adj" fmla="val 4800"/>
            </a:avLst>
          </a:prstGeom>
          <a:solidFill>
            <a:srgbClr val="3FC9BD">
              <a:alpha val="12000"/>
            </a:srgbClr>
          </a:solidFill>
          <a:ln w="12700">
            <a:solidFill>
              <a:srgbClr val="3FC9B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68096" y="1417320"/>
            <a:ext cx="5166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E7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prod-checkout-web-01 (TruRisk 96) and the cross-module chain unfolds in place.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66928" y="2743200"/>
            <a:ext cx="5568696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A3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— Log4Shell, CVSS 10.0, KB confirms active exploitation.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A3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— reflected SQL injection on /checkout/apply-promo.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A3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— fails CIS 5.2.9, SSH root login is enabled.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A3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— agent healthy, so this score can be trusted.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A3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— a remediation job exists and has not run. Expedite it.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817352" y="63550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B44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 / 21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D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55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F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SURFACE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E7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evidence trail</a:t>
            </a:r>
            <a:endParaRPr lang="en-US" sz="2700" dirty="0"/>
          </a:p>
        </p:txBody>
      </p:sp>
      <p:pic>
        <p:nvPicPr>
          <p:cNvPr id="4" name="Image 0" descr="deck_img/D_audit_draw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38440" y="1371600"/>
            <a:ext cx="3783584" cy="44805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6928" y="1417320"/>
            <a:ext cx="6814312" cy="1143000"/>
          </a:xfrm>
          <a:prstGeom prst="roundRect">
            <a:avLst>
              <a:gd name="adj" fmla="val 4800"/>
            </a:avLst>
          </a:prstGeom>
          <a:solidFill>
            <a:srgbClr val="3FC9BD">
              <a:alpha val="12000"/>
            </a:srgbClr>
          </a:solidFill>
          <a:ln w="12700">
            <a:solidFill>
              <a:srgbClr val="3FC9B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68096" y="1417320"/>
            <a:ext cx="641197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E7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JSONL: timestamp, tool, module, actor, mode. Written for every call, by default.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66928" y="2743200"/>
            <a:ext cx="6814312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A3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weekly report stops being a spreadsheet and becomes a reproducible artefact.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A3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panel that turns a demo into something a CISO can sign.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817352" y="63550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B44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 / 21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0D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55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F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SURFACE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E7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product, re-scoped</a:t>
            </a:r>
            <a:endParaRPr lang="en-US" sz="2700" dirty="0"/>
          </a:p>
        </p:txBody>
      </p:sp>
      <p:pic>
        <p:nvPicPr>
          <p:cNvPr id="4" name="Image 0" descr="deck_img/E_manager_fu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34814" y="1298448"/>
            <a:ext cx="5919324" cy="35204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6928" y="5093208"/>
            <a:ext cx="3931920" cy="1261872"/>
          </a:xfrm>
          <a:prstGeom prst="roundRect">
            <a:avLst>
              <a:gd name="adj" fmla="val 4348"/>
            </a:avLst>
          </a:prstGeom>
          <a:solidFill>
            <a:srgbClr val="3FC9BD">
              <a:alpha val="12000"/>
            </a:srgbClr>
          </a:solidFill>
          <a:ln w="12700">
            <a:solidFill>
              <a:srgbClr val="3FC9B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68096" y="5093208"/>
            <a:ext cx="3529584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E7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profile: PC, TC, CS and PM are locked. 3 of 8 modules in scope.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791456" y="5093208"/>
            <a:ext cx="683056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A3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card does not silently drop what it cannot show — it says “2 modules hidden under the manager allowlist (PC, CA)”.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A3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guardrail is the product surface. That is the difference between a restriction and a bug.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817352" y="63550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B44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 / 21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0D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F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I BUILT IT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7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44752"/>
            <a:ext cx="3538728" cy="2025396"/>
          </a:xfrm>
          <a:prstGeom prst="roundRect">
            <a:avLst>
              <a:gd name="adj" fmla="val 2709"/>
            </a:avLst>
          </a:prstGeom>
          <a:solidFill>
            <a:srgbClr val="151A24"/>
          </a:solidFill>
          <a:ln w="12700">
            <a:solidFill>
              <a:srgbClr val="2A334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1609344"/>
            <a:ext cx="3136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68096" y="1901952"/>
            <a:ext cx="3136392" cy="1403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A3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spec — all 16 tools, all 12 modules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25112" y="1444752"/>
            <a:ext cx="3538728" cy="2025396"/>
          </a:xfrm>
          <a:prstGeom prst="roundRect">
            <a:avLst>
              <a:gd name="adj" fmla="val 2709"/>
            </a:avLst>
          </a:prstGeom>
          <a:solidFill>
            <a:srgbClr val="151A24"/>
          </a:solidFill>
          <a:ln w="12700">
            <a:solidFill>
              <a:srgbClr val="2A334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26280" y="1609344"/>
            <a:ext cx="3136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26280" y="1901952"/>
            <a:ext cx="3136392" cy="1403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A3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tools to business needs, not to features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83296" y="1444752"/>
            <a:ext cx="3538728" cy="2025396"/>
          </a:xfrm>
          <a:prstGeom prst="roundRect">
            <a:avLst>
              <a:gd name="adj" fmla="val 2709"/>
            </a:avLst>
          </a:prstGeom>
          <a:solidFill>
            <a:srgbClr val="151A24"/>
          </a:solidFill>
          <a:ln w="12700">
            <a:solidFill>
              <a:srgbClr val="2A334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84464" y="1609344"/>
            <a:ext cx="3136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284464" y="1901952"/>
            <a:ext cx="3136392" cy="1403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A3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eleven to one, on criteria stated first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66928" y="3689604"/>
            <a:ext cx="3538728" cy="2025396"/>
          </a:xfrm>
          <a:prstGeom prst="roundRect">
            <a:avLst>
              <a:gd name="adj" fmla="val 2709"/>
            </a:avLst>
          </a:prstGeom>
          <a:solidFill>
            <a:srgbClr val="151A24"/>
          </a:solidFill>
          <a:ln w="12700">
            <a:solidFill>
              <a:srgbClr val="2A334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8096" y="3854196"/>
            <a:ext cx="3136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68096" y="4146804"/>
            <a:ext cx="3136392" cy="1403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A3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the workflow as a join, not a query list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25112" y="3689604"/>
            <a:ext cx="3538728" cy="2025396"/>
          </a:xfrm>
          <a:prstGeom prst="roundRect">
            <a:avLst>
              <a:gd name="adj" fmla="val 2709"/>
            </a:avLst>
          </a:prstGeom>
          <a:solidFill>
            <a:srgbClr val="151A24"/>
          </a:solidFill>
          <a:ln w="12700">
            <a:solidFill>
              <a:srgbClr val="2A334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26280" y="3854196"/>
            <a:ext cx="3136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26280" y="4146804"/>
            <a:ext cx="3136392" cy="1403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A3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the surface until it is defensible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083296" y="3689604"/>
            <a:ext cx="3538728" cy="2025396"/>
          </a:xfrm>
          <a:prstGeom prst="roundRect">
            <a:avLst>
              <a:gd name="adj" fmla="val 2709"/>
            </a:avLst>
          </a:prstGeom>
          <a:solidFill>
            <a:srgbClr val="151A24"/>
          </a:solidFill>
          <a:ln w="12700">
            <a:solidFill>
              <a:srgbClr val="2A334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84464" y="3854196"/>
            <a:ext cx="3136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284464" y="4146804"/>
            <a:ext cx="3136392" cy="1403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A3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Pressure-test the guardrails as a persona, not a setting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66928" y="5870448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77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scope: this is a clickable prototype against a real spec — not a live integration. Production needs a live MCP session, tenant data, a latency and cost budget, and an eval harness for hallucination on risk claims. Naming the gap is part of the job.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817352" y="63550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B44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/ 21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0D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2926080"/>
            <a:ext cx="6766560" cy="6766560"/>
          </a:xfrm>
          <a:prstGeom prst="ellipse">
            <a:avLst/>
          </a:prstGeom>
          <a:solidFill>
            <a:srgbClr val="3FC9BD">
              <a:alpha val="7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11887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3F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WHAT'S NEXT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1572768"/>
            <a:ext cx="9966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600"/>
              </a:lnSpc>
              <a:buNone/>
            </a:pPr>
            <a:r>
              <a:rPr lang="en-US" sz="3600" b="1" dirty="0">
                <a:solidFill>
                  <a:srgbClr val="E7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server was the raw material. The product was the judgment.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66928" y="3429000"/>
            <a:ext cx="2227478" cy="384048"/>
          </a:xfrm>
          <a:prstGeom prst="roundRect">
            <a:avLst>
              <a:gd name="adj" fmla="val 47619"/>
            </a:avLst>
          </a:prstGeom>
          <a:solidFill>
            <a:srgbClr val="3FC9BD">
              <a:alpha val="12000"/>
            </a:srgbClr>
          </a:solidFill>
          <a:ln w="9525">
            <a:solidFill>
              <a:srgbClr val="3FC9B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3429000"/>
            <a:ext cx="22274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F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v1 — the Monday ritual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940710" y="3429000"/>
            <a:ext cx="3661258" cy="384048"/>
          </a:xfrm>
          <a:prstGeom prst="roundRect">
            <a:avLst>
              <a:gd name="adj" fmla="val 47619"/>
            </a:avLst>
          </a:prstGeom>
          <a:solidFill>
            <a:srgbClr val="3FC9BD">
              <a:alpha val="12000"/>
            </a:srgbClr>
          </a:solidFill>
          <a:ln w="9525">
            <a:solidFill>
              <a:srgbClr val="3FC9B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40710" y="3429000"/>
            <a:ext cx="36612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F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v2 — scheduled run, delivered to Slack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748272" y="3429000"/>
            <a:ext cx="3482035" cy="384048"/>
          </a:xfrm>
          <a:prstGeom prst="roundRect">
            <a:avLst>
              <a:gd name="adj" fmla="val 47619"/>
            </a:avLst>
          </a:prstGeom>
          <a:solidFill>
            <a:srgbClr val="3FC9BD">
              <a:alpha val="12000"/>
            </a:srgbClr>
          </a:solidFill>
          <a:ln w="9525">
            <a:solidFill>
              <a:srgbClr val="3FC9B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48272" y="3429000"/>
            <a:ext cx="34820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F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v3 — write path with approval gating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0376611" y="3429000"/>
            <a:ext cx="3033979" cy="384048"/>
          </a:xfrm>
          <a:prstGeom prst="roundRect">
            <a:avLst>
              <a:gd name="adj" fmla="val 47619"/>
            </a:avLst>
          </a:prstGeom>
          <a:solidFill>
            <a:srgbClr val="3FC9BD">
              <a:alpha val="12000"/>
            </a:srgbClr>
          </a:solidFill>
          <a:ln w="9525">
            <a:solidFill>
              <a:srgbClr val="3FC9B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376611" y="3429000"/>
            <a:ext cx="303397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F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v4 — an ETM consumption channel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66928" y="429768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A3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Eleven doors. One opened. Made safe enough to walk through.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66928" y="5989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78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github.com/mayukhg/qualys-mcp-app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817352" y="63550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B44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/ 21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Protocol to Product</dc:title>
  <dc:subject>PptxGenJS Presentation</dc:subject>
  <dc:creator>Mayukh</dc:creator>
  <cp:lastModifiedBy>Mayukh</cp:lastModifiedBy>
  <cp:revision>1</cp:revision>
  <dcterms:created xsi:type="dcterms:W3CDTF">2026-07-14T06:24:22Z</dcterms:created>
  <dcterms:modified xsi:type="dcterms:W3CDTF">2026-07-14T06:24:22Z</dcterms:modified>
</cp:coreProperties>
</file>